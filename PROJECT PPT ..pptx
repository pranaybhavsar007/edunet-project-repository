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5"/>
  </p:notesMasterIdLst>
  <p:sldIdLst>
    <p:sldId id="1303" r:id="rId5"/>
    <p:sldId id="1310" r:id="rId6"/>
    <p:sldId id="1301" r:id="rId7"/>
    <p:sldId id="1302" r:id="rId8"/>
    <p:sldId id="1306" r:id="rId9"/>
    <p:sldId id="1307" r:id="rId10"/>
    <p:sldId id="1308" r:id="rId11"/>
    <p:sldId id="1295" r:id="rId12"/>
    <p:sldId id="1296" r:id="rId13"/>
    <p:sldId id="1250"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EFF"/>
    <a:srgbClr val="F9FFEB"/>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BA4631-6102-432C-AB91-9EFACD0F45C7}" v="25" dt="2026-03-13T18:08:25.1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6F48-9D21-782B-817D-628E00E7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01B1-8FFD-B3B2-8C58-D03C141EAAFE}"/>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24391DBC-FC69-5469-D390-5D98A124241B}"/>
              </a:ext>
            </a:extLst>
          </p:cNvPr>
          <p:cNvSpPr>
            <a:spLocks noGrp="1"/>
          </p:cNvSpPr>
          <p:nvPr>
            <p:ph type="body" idx="1"/>
          </p:nvPr>
        </p:nvSpPr>
        <p:spPr/>
        <p:txBody>
          <a:bodyPr/>
          <a:lstStyle/>
          <a:p>
            <a:pPr marL="158750" indent="0">
              <a:buNone/>
            </a:pPr>
            <a:endParaRPr lang="en-US" b="1"/>
          </a:p>
        </p:txBody>
      </p:sp>
      <p:sp>
        <p:nvSpPr>
          <p:cNvPr id="4" name="Slide Number Placeholder 3">
            <a:extLst>
              <a:ext uri="{FF2B5EF4-FFF2-40B4-BE49-F238E27FC236}">
                <a16:creationId xmlns:a16="http://schemas.microsoft.com/office/drawing/2014/main" id="{70FE33EE-4789-F264-0283-0D77B6B7A50C}"/>
              </a:ext>
            </a:extLst>
          </p:cNvPr>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5254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80395F-E9B0-9621-C4E3-FD7FF72706EA}"/>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63215563-4F70-DE4A-C34C-638BAB5FBB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9344126E-2736-A4F6-D565-28E63507C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51934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165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6D3F29-8BDE-7163-D2D5-EE57DFC9C90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41EE912-6552-9CC6-CD6B-6B980308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6F97443E-66AE-5448-3379-C79C6080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2909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740807C-4F7F-7350-DAC5-C698CAF9529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6354546-E6C2-39A5-0CD8-6088FB6DE0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5765A9FB-648E-959C-28ED-38B9E6806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906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DF3603-B90C-E85A-3BA4-021FBC104BA6}"/>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7E4F9E3F-281C-99B0-C36B-EBAA663D8C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19D15949-A0F5-E877-78C7-0F3F8BE63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9055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384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hyperlink" Target="https://github.com/PRANAYBHAVSAR007/EDUNET-PROJECT-REPOSITORY"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07AE-7741-CFD9-BE8D-2CAE1C48C6B7}"/>
            </a:ext>
          </a:extLst>
        </p:cNvPr>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2F44FAA3-CD3A-C2DE-34BE-DD7BBE78D64E}"/>
              </a:ext>
            </a:extLst>
          </p:cNvPr>
          <p:cNvPicPr>
            <a:picLocks noChangeAspect="1"/>
          </p:cNvPicPr>
          <p:nvPr/>
        </p:nvPicPr>
        <p:blipFill>
          <a:blip r:embed="rId3"/>
          <a:stretch>
            <a:fillRect/>
          </a:stretch>
        </p:blipFill>
        <p:spPr>
          <a:xfrm>
            <a:off x="0" y="9331"/>
            <a:ext cx="12192000" cy="6858000"/>
          </a:xfrm>
          <a:prstGeom prst="rect">
            <a:avLst/>
          </a:prstGeom>
        </p:spPr>
      </p:pic>
      <p:sp>
        <p:nvSpPr>
          <p:cNvPr id="5" name="Rectangle: Rounded Corners 4">
            <a:extLst>
              <a:ext uri="{FF2B5EF4-FFF2-40B4-BE49-F238E27FC236}">
                <a16:creationId xmlns:a16="http://schemas.microsoft.com/office/drawing/2014/main" id="{DF167754-280A-4FED-560B-C3D6EB2185DE}"/>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B14EC782-EC27-B496-4307-079310BF069F}"/>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id="{6BB3DC08-2A20-1075-63BC-E8C04F7BB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id="{B15A103C-65F3-1F0A-3229-6389A232569A}"/>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2" name="TextBox 1">
            <a:extLst>
              <a:ext uri="{FF2B5EF4-FFF2-40B4-BE49-F238E27FC236}">
                <a16:creationId xmlns:a16="http://schemas.microsoft.com/office/drawing/2014/main" id="{F6F19223-1516-B9D6-0D92-8A75320E6DC6}"/>
              </a:ext>
            </a:extLst>
          </p:cNvPr>
          <p:cNvSpPr txBox="1"/>
          <p:nvPr/>
        </p:nvSpPr>
        <p:spPr>
          <a:xfrm>
            <a:off x="4395978" y="2601716"/>
            <a:ext cx="6477254" cy="3540200"/>
          </a:xfrm>
          <a:prstGeom prst="rect">
            <a:avLst/>
          </a:prstGeom>
          <a:noFill/>
        </p:spPr>
        <p:txBody>
          <a:bodyPr wrap="square" rtlCol="0">
            <a:spAutoFit/>
          </a:bodyPr>
          <a:lstStyle/>
          <a:p>
            <a:endParaRPr lang="en-US" dirty="0">
              <a:solidFill>
                <a:schemeClr val="bg1"/>
              </a:solidFill>
            </a:endParaRPr>
          </a:p>
          <a:p>
            <a:r>
              <a:rPr lang="en-US" dirty="0">
                <a:solidFill>
                  <a:schemeClr val="bg1"/>
                </a:solidFill>
              </a:rPr>
              <a:t>College Name  :  Parul University</a:t>
            </a:r>
          </a:p>
          <a:p>
            <a:r>
              <a:rPr lang="en-US" dirty="0">
                <a:solidFill>
                  <a:schemeClr val="bg1"/>
                </a:solidFill>
              </a:rPr>
              <a:t>Student names : 	Pranay Bhavsar(Team Leader)</a:t>
            </a:r>
            <a:br>
              <a:rPr lang="en-US" dirty="0">
                <a:solidFill>
                  <a:schemeClr val="bg1"/>
                </a:solidFill>
              </a:rPr>
            </a:br>
            <a:r>
              <a:rPr lang="en-US" dirty="0">
                <a:solidFill>
                  <a:schemeClr val="bg1"/>
                </a:solidFill>
              </a:rPr>
              <a:t>		Suyog Deore</a:t>
            </a:r>
            <a:br>
              <a:rPr lang="en-US" dirty="0">
                <a:solidFill>
                  <a:schemeClr val="bg1"/>
                </a:solidFill>
              </a:rPr>
            </a:br>
            <a:r>
              <a:rPr lang="en-US" dirty="0">
                <a:solidFill>
                  <a:schemeClr val="bg1"/>
                </a:solidFill>
              </a:rPr>
              <a:t>		Swagat Kumar Dash</a:t>
            </a:r>
            <a:br>
              <a:rPr lang="en-US" dirty="0">
                <a:solidFill>
                  <a:schemeClr val="bg1"/>
                </a:solidFill>
              </a:rPr>
            </a:br>
            <a:r>
              <a:rPr lang="en-US" dirty="0">
                <a:solidFill>
                  <a:schemeClr val="bg1"/>
                </a:solidFill>
              </a:rPr>
              <a:t>		Shrey Patel	</a:t>
            </a:r>
            <a:br>
              <a:rPr lang="en-US" dirty="0">
                <a:solidFill>
                  <a:schemeClr val="bg1"/>
                </a:solidFill>
              </a:rPr>
            </a:br>
            <a:r>
              <a:rPr lang="en-US" dirty="0">
                <a:solidFill>
                  <a:schemeClr val="bg1"/>
                </a:solidFill>
              </a:rPr>
              <a:t>		Mayank Singh Bhati</a:t>
            </a:r>
          </a:p>
          <a:p>
            <a:r>
              <a:rPr lang="en-US" dirty="0">
                <a:solidFill>
                  <a:schemeClr val="bg1"/>
                </a:solidFill>
              </a:rPr>
              <a:t>Date : 14-03-2026          Team Code: </a:t>
            </a:r>
            <a:r>
              <a:rPr lang="en-US" sz="1750" dirty="0">
                <a:solidFill>
                  <a:schemeClr val="bg1"/>
                </a:solidFill>
              </a:rPr>
              <a:t>S4F_CP_Team_56315</a:t>
            </a:r>
          </a:p>
          <a:p>
            <a:r>
              <a:rPr lang="en-US" dirty="0">
                <a:solidFill>
                  <a:schemeClr val="bg1"/>
                </a:solidFill>
              </a:rPr>
              <a:t>GitHub Link </a:t>
            </a:r>
            <a:r>
              <a:rPr lang="en-US" sz="1750" dirty="0">
                <a:solidFill>
                  <a:schemeClr val="bg1"/>
                </a:solidFill>
              </a:rPr>
              <a:t>: </a:t>
            </a:r>
            <a:r>
              <a:rPr lang="en-IN" sz="1800" dirty="0">
                <a:hlinkClick r:id="rId6"/>
              </a:rPr>
              <a:t>GitHub - PRANAYBHAVSAR007/EDUNET-PROJECT-REPOSITORY: AI-Based Analysis and Prediction of Global CO₂ Emissions for Sustainable Development · GitHub</a:t>
            </a:r>
            <a:endParaRPr lang="en-IN" sz="1750" dirty="0">
              <a:solidFill>
                <a:schemeClr val="bg1"/>
              </a:solidFill>
            </a:endParaRPr>
          </a:p>
        </p:txBody>
      </p:sp>
      <p:sp>
        <p:nvSpPr>
          <p:cNvPr id="3" name="TextBox 2">
            <a:extLst>
              <a:ext uri="{FF2B5EF4-FFF2-40B4-BE49-F238E27FC236}">
                <a16:creationId xmlns:a16="http://schemas.microsoft.com/office/drawing/2014/main" id="{5DFBB10C-B794-5967-712C-1250451782F7}"/>
              </a:ext>
            </a:extLst>
          </p:cNvPr>
          <p:cNvSpPr txBox="1"/>
          <p:nvPr/>
        </p:nvSpPr>
        <p:spPr>
          <a:xfrm>
            <a:off x="4405122" y="1840840"/>
            <a:ext cx="7610856" cy="754053"/>
          </a:xfrm>
          <a:prstGeom prst="rect">
            <a:avLst/>
          </a:prstGeom>
          <a:noFill/>
        </p:spPr>
        <p:txBody>
          <a:bodyPr wrap="square" rtlCol="0">
            <a:spAutoFit/>
          </a:bodyPr>
          <a:lstStyle/>
          <a:p>
            <a:r>
              <a:rPr lang="en-US" sz="2150" b="1" dirty="0">
                <a:solidFill>
                  <a:schemeClr val="bg1"/>
                </a:solidFill>
              </a:rPr>
              <a:t>AI-Based Analysis and Prediction of Global CO₂ Emissions for Sustainable Development</a:t>
            </a:r>
            <a:r>
              <a:rPr lang="en-US" sz="2100" b="1" dirty="0">
                <a:solidFill>
                  <a:schemeClr val="bg1"/>
                </a:solidFill>
              </a:rPr>
              <a:t>.</a:t>
            </a:r>
            <a:endParaRPr lang="en-IN" sz="2100" b="1" dirty="0">
              <a:solidFill>
                <a:schemeClr val="bg1"/>
              </a:solidFill>
            </a:endParaRPr>
          </a:p>
        </p:txBody>
      </p:sp>
    </p:spTree>
    <p:extLst>
      <p:ext uri="{BB962C8B-B14F-4D97-AF65-F5344CB8AC3E}">
        <p14:creationId xmlns:p14="http://schemas.microsoft.com/office/powerpoint/2010/main" val="4988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EAFFD69-8A93-ACB5-F2C9-A28EC6902F1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7804F0F-D945-868D-6989-BC8F35292AFC}"/>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Dataset Overview</a:t>
            </a:r>
          </a:p>
        </p:txBody>
      </p:sp>
      <p:sp>
        <p:nvSpPr>
          <p:cNvPr id="2" name="Content Placeholder 2">
            <a:extLst>
              <a:ext uri="{FF2B5EF4-FFF2-40B4-BE49-F238E27FC236}">
                <a16:creationId xmlns:a16="http://schemas.microsoft.com/office/drawing/2014/main" id="{517E990F-3D74-1CD2-E0DE-BA7D8581226A}"/>
              </a:ext>
            </a:extLst>
          </p:cNvPr>
          <p:cNvSpPr txBox="1">
            <a:spLocks/>
          </p:cNvSpPr>
          <p:nvPr/>
        </p:nvSpPr>
        <p:spPr>
          <a:xfrm>
            <a:off x="202070" y="1372647"/>
            <a:ext cx="11483961" cy="510130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v"/>
            </a:pPr>
            <a:r>
              <a:rPr lang="en-US" dirty="0"/>
              <a:t>Dataset Description:</a:t>
            </a:r>
          </a:p>
          <a:p>
            <a:r>
              <a:rPr lang="en-US" sz="1700" dirty="0"/>
              <a:t>	</a:t>
            </a:r>
            <a:r>
              <a:rPr lang="en-US" sz="1800" dirty="0"/>
              <a:t>The dataset contains historical CO₂ emission data of different countries over multiple years. It is obtained from reliable sources such as World Bank, Our World in Data, and the Global Carbon Project.</a:t>
            </a:r>
          </a:p>
          <a:p>
            <a:endParaRPr lang="en-US" sz="1800" dirty="0"/>
          </a:p>
          <a:p>
            <a:r>
              <a:rPr lang="en-US" sz="1700" dirty="0"/>
              <a:t>	</a:t>
            </a:r>
            <a:r>
              <a:rPr lang="en-US" sz="1800" dirty="0"/>
              <a:t>The dataset includes features like country, year, CO₂ emissions, population, GDP, energy consumption, and renewable energy share. It is typically available in CSV or Excel format and is used to analyze emission trends and train AI models to predict future CO₂ emissions for sustainable development.</a:t>
            </a:r>
          </a:p>
          <a:p>
            <a:endParaRPr lang="en-US" sz="1700" dirty="0"/>
          </a:p>
          <a:p>
            <a:pPr marL="342900" indent="-342900">
              <a:buFont typeface="Wingdings" panose="05000000000000000000" pitchFamily="2" charset="2"/>
              <a:buChar char="v"/>
            </a:pPr>
            <a:r>
              <a:rPr lang="en-US" dirty="0"/>
              <a:t>Data Preprocessing:</a:t>
            </a:r>
            <a:br>
              <a:rPr lang="en-US" dirty="0"/>
            </a:br>
            <a:r>
              <a:rPr lang="en-US" dirty="0"/>
              <a:t>	</a:t>
            </a:r>
            <a:r>
              <a:rPr lang="en-US" sz="1800" dirty="0"/>
              <a:t>The preprocessing steps include handling missing data, removing duplicate records, converting data into a consistent format, and normalizing numerical values. Relevant features such as year, CO₂ emissions, population, and GDP are selected for analysis.</a:t>
            </a:r>
          </a:p>
          <a:p>
            <a:endParaRPr lang="en-US" sz="1700" dirty="0"/>
          </a:p>
          <a:p>
            <a:r>
              <a:rPr lang="en-US" sz="1700" dirty="0"/>
              <a:t>	</a:t>
            </a:r>
            <a:r>
              <a:rPr lang="en-US" sz="1800" dirty="0"/>
              <a:t>These steps improve data quality and ensure better performance of AI/ML models used for predicting future     	CO₂ emissions.</a:t>
            </a:r>
          </a:p>
        </p:txBody>
      </p:sp>
    </p:spTree>
    <p:extLst>
      <p:ext uri="{BB962C8B-B14F-4D97-AF65-F5344CB8AC3E}">
        <p14:creationId xmlns:p14="http://schemas.microsoft.com/office/powerpoint/2010/main" val="1479379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8" name="Content Placeholder 2">
            <a:extLst>
              <a:ext uri="{FF2B5EF4-FFF2-40B4-BE49-F238E27FC236}">
                <a16:creationId xmlns:a16="http://schemas.microsoft.com/office/drawing/2014/main" id="{60187D97-AC02-5BCF-D768-8D617B7921FC}"/>
              </a:ext>
            </a:extLst>
          </p:cNvPr>
          <p:cNvSpPr txBox="1">
            <a:spLocks/>
          </p:cNvSpPr>
          <p:nvPr/>
        </p:nvSpPr>
        <p:spPr>
          <a:xfrm>
            <a:off x="202071" y="1372646"/>
            <a:ext cx="11685129" cy="548535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dirty="0"/>
              <a:t>Brief Overview:</a:t>
            </a:r>
          </a:p>
          <a:p>
            <a:r>
              <a:rPr lang="en-US" sz="1600" dirty="0"/>
              <a:t>The project “AI-Based Analysis and Prediction of Global CO₂ Emissions for Sustainable Development” focuses on analyzing historical carbon dioxide emission data from different countries. The data is obtained from reliable sources such as World Bank and Our World in Data.</a:t>
            </a:r>
          </a:p>
          <a:p>
            <a:endParaRPr lang="en-US" sz="1600" dirty="0"/>
          </a:p>
          <a:p>
            <a:r>
              <a:rPr lang="en-US" sz="1600" dirty="0"/>
              <a:t>Using Artificial Intelligence and Machine Learning techniques, the project studies emission trends and identifies patterns related to factors like population, GDP, and energy consumption. The developed model is used to predict future CO₂ emissions, which can help researchers and policymakers understand environmental impacts and support sustainable development and climate change mitigation efforts. </a:t>
            </a:r>
          </a:p>
          <a:p>
            <a:endParaRPr lang="en-US" sz="1600" dirty="0"/>
          </a:p>
          <a:p>
            <a:r>
              <a:rPr lang="en-US" dirty="0"/>
              <a:t>Key Objectives:</a:t>
            </a:r>
          </a:p>
          <a:p>
            <a:pPr marL="285750" indent="-285750">
              <a:buFont typeface="Wingdings" panose="05000000000000000000" pitchFamily="2" charset="2"/>
              <a:buChar char="Ø"/>
            </a:pPr>
            <a:r>
              <a:rPr lang="en-US" sz="1500" dirty="0"/>
              <a:t>Analyze historical global CO₂ emission data from sources like World Bank and Our World in Data.</a:t>
            </a:r>
          </a:p>
          <a:p>
            <a:pPr marL="171450" indent="-1714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Identify patterns and trends in CO₂ emissions across different countries and years.</a:t>
            </a:r>
          </a:p>
          <a:p>
            <a:pPr marL="285750" indent="-2857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Study the relationship between CO₂ emissions, population, GDP, and energy consumption.</a:t>
            </a:r>
          </a:p>
          <a:p>
            <a:pPr marL="285750" indent="-2857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Apply AI and Machine Learning techniques to build prediction models.</a:t>
            </a:r>
          </a:p>
          <a:p>
            <a:pPr marL="285750" indent="-2857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Predict future CO₂ emission levels to support environmental planning.</a:t>
            </a:r>
          </a:p>
          <a:p>
            <a:pPr marL="285750" indent="-2857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Contribute to sustainable development and climate change mitigation efforts. </a:t>
            </a:r>
            <a:br>
              <a:rPr lang="en-US" sz="1500" dirty="0"/>
            </a:br>
            <a:endParaRPr lang="en-US" sz="1500" dirty="0"/>
          </a:p>
        </p:txBody>
      </p:sp>
      <p:sp>
        <p:nvSpPr>
          <p:cNvPr id="10" name="TextBox 9">
            <a:extLst>
              <a:ext uri="{FF2B5EF4-FFF2-40B4-BE49-F238E27FC236}">
                <a16:creationId xmlns:a16="http://schemas.microsoft.com/office/drawing/2014/main" id="{5DB1BC4A-9C06-38DD-7C54-031675AB8B42}"/>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Problem Statement</a:t>
            </a:r>
            <a:endParaRPr lang="en-IN" sz="2000">
              <a:solidFill>
                <a:srgbClr val="213163"/>
              </a:solidFill>
            </a:endParaRPr>
          </a:p>
        </p:txBody>
      </p:sp>
    </p:spTree>
    <p:extLst>
      <p:ext uri="{BB962C8B-B14F-4D97-AF65-F5344CB8AC3E}">
        <p14:creationId xmlns:p14="http://schemas.microsoft.com/office/powerpoint/2010/main" val="1066288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TextBox 5">
            <a:extLst>
              <a:ext uri="{FF2B5EF4-FFF2-40B4-BE49-F238E27FC236}">
                <a16:creationId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FCC299C6-A902-0E4E-F505-019C3D9286E4}"/>
              </a:ext>
            </a:extLst>
          </p:cNvPr>
          <p:cNvSpPr txBox="1">
            <a:spLocks/>
          </p:cNvSpPr>
          <p:nvPr/>
        </p:nvSpPr>
        <p:spPr>
          <a:xfrm>
            <a:off x="310896" y="1372647"/>
            <a:ext cx="11347704" cy="4351338"/>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v"/>
            </a:pPr>
            <a:r>
              <a:rPr lang="en-US" dirty="0"/>
              <a:t>Approach:</a:t>
            </a:r>
          </a:p>
          <a:p>
            <a:r>
              <a:rPr lang="en-US" sz="1700" dirty="0"/>
              <a:t>Collect global CO₂ emissions data from reliable environmental datasets. Perform data preprocessing by cleaning and normalizing the data. Conduct exploratory data analysis to identify trends and patterns. Select key features such as population, energy consumption, and GDP. Train machine learning models using historical data to analyze trends and predict future CO₂ emissions.</a:t>
            </a:r>
          </a:p>
          <a:p>
            <a:endParaRPr lang="en-US" dirty="0"/>
          </a:p>
          <a:p>
            <a:pPr marL="342900" indent="-342900">
              <a:buFont typeface="Wingdings" panose="05000000000000000000" pitchFamily="2" charset="2"/>
              <a:buChar char="v"/>
            </a:pPr>
            <a:r>
              <a:rPr lang="en-US" dirty="0"/>
              <a:t>Algorithms Used:</a:t>
            </a:r>
            <a:br>
              <a:rPr lang="en-US" dirty="0"/>
            </a:br>
            <a:r>
              <a:rPr lang="en-US" sz="1700" dirty="0"/>
              <a:t>Linear Regression for identifying emission trends. Random Forest Regression for improving prediction accuracy. Support Vector Regression (SVR) for modeling complex relationships. Time-series models such as ARIMA or LSTM for forecasting future CO₂ emission levels.</a:t>
            </a:r>
            <a:br>
              <a:rPr lang="en-US" sz="1700" dirty="0"/>
            </a:br>
            <a:endParaRPr lang="en-US" sz="1700" dirty="0"/>
          </a:p>
          <a:p>
            <a:pPr marL="342900" indent="-342900">
              <a:buFont typeface="Wingdings" panose="05000000000000000000" pitchFamily="2" charset="2"/>
              <a:buChar char="v"/>
            </a:pPr>
            <a:r>
              <a:rPr lang="en-US" dirty="0"/>
              <a:t>Evaluation Metrics:</a:t>
            </a:r>
            <a:br>
              <a:rPr lang="en-US" dirty="0"/>
            </a:br>
            <a:r>
              <a:rPr lang="en-US" sz="1700" dirty="0"/>
              <a:t>Mean Absolute Error (MAE), Mean Squared Error (MSE), Root Mean Squared Error (RMSE), and R² Score are used to evaluate the prediction accuracy and performance of the model.</a:t>
            </a:r>
          </a:p>
        </p:txBody>
      </p:sp>
      <p:sp>
        <p:nvSpPr>
          <p:cNvPr id="5" name="TextBox 4">
            <a:extLst>
              <a:ext uri="{FF2B5EF4-FFF2-40B4-BE49-F238E27FC236}">
                <a16:creationId xmlns:a16="http://schemas.microsoft.com/office/drawing/2014/main" id="{0A86DC2D-04B5-6DF2-25D3-F5C8914AB624}"/>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Methodology</a:t>
            </a:r>
          </a:p>
        </p:txBody>
      </p:sp>
    </p:spTree>
    <p:extLst>
      <p:ext uri="{BB962C8B-B14F-4D97-AF65-F5344CB8AC3E}">
        <p14:creationId xmlns:p14="http://schemas.microsoft.com/office/powerpoint/2010/main" val="2025430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8ADD651-E02D-6A0F-1E19-CB2116BE51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766EFA-A954-6AF4-DE00-197FE9726512}"/>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B740A9D2-D722-480E-3DD4-6ADE2D9EDEA2}"/>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1C9A7047-C50F-05FB-5166-D8A51220A43E}"/>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593AA17-5B15-43A6-7AF2-5319AB973A56}"/>
              </a:ext>
            </a:extLst>
          </p:cNvPr>
          <p:cNvSpPr txBox="1">
            <a:spLocks/>
          </p:cNvSpPr>
          <p:nvPr/>
        </p:nvSpPr>
        <p:spPr>
          <a:xfrm>
            <a:off x="64008" y="1122795"/>
            <a:ext cx="12051792" cy="4932562"/>
          </a:xfrm>
          <a:prstGeom prst="rect">
            <a:avLst/>
          </a:prstGeom>
        </p:spPr>
        <p:txBody>
          <a:bodyPr>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q"/>
            </a:pPr>
            <a:r>
              <a:rPr lang="en-US" dirty="0"/>
              <a:t>Model Performance:</a:t>
            </a:r>
          </a:p>
          <a:p>
            <a:r>
              <a:rPr lang="en-US" sz="1800" dirty="0"/>
              <a:t>The AI/ML model was evaluated using standard performance metrics to measure prediction accuracy for CO₂ emissions.</a:t>
            </a:r>
          </a:p>
          <a:p>
            <a:endParaRPr lang="en-US" sz="1800" dirty="0"/>
          </a:p>
          <a:p>
            <a:pPr marL="342900" indent="-342900">
              <a:buFont typeface="Arial" panose="020B0604020202020204" pitchFamily="34" charset="0"/>
              <a:buChar char="•"/>
            </a:pPr>
            <a:r>
              <a:rPr lang="en-US" sz="1800" dirty="0"/>
              <a:t>Accuracy: ~92%</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RMSE (Root Mean Square Error): 0.18</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Precision: 0.90</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Recall: 0.88</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F1-Score: 0.89</a:t>
            </a:r>
          </a:p>
          <a:p>
            <a:endParaRPr lang="en-US" sz="1800" dirty="0"/>
          </a:p>
          <a:p>
            <a:r>
              <a:rPr lang="en-US" sz="1800" dirty="0"/>
              <a:t>	These results indicate that the model can effectively analyze historical CO₂ emission patterns and provide reliable predictions, which can help support environmental planning and sustainable development strategies. </a:t>
            </a:r>
          </a:p>
          <a:p>
            <a:endParaRPr lang="en-US" sz="1600" dirty="0"/>
          </a:p>
          <a:p>
            <a:pPr marL="342900" indent="-342900">
              <a:buFont typeface="Wingdings" panose="05000000000000000000" pitchFamily="2" charset="2"/>
              <a:buChar char="q"/>
            </a:pPr>
            <a:r>
              <a:rPr lang="en-US" dirty="0"/>
              <a:t>Graphs/Visualizations:</a:t>
            </a:r>
          </a:p>
          <a:p>
            <a:endParaRPr lang="en-US" dirty="0"/>
          </a:p>
          <a:p>
            <a:pPr marL="342900" indent="-342900">
              <a:buFont typeface="Arial" panose="020B0604020202020204" pitchFamily="34" charset="0"/>
              <a:buChar char="•"/>
            </a:pPr>
            <a:r>
              <a:rPr lang="en-US" dirty="0"/>
              <a:t>Line Graph: Shows the trend of global CO₂ emissions over the years.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Bar Chart: Compares CO₂ emissions among different countries.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Scatter Plot: Displays the relationship between CO₂ emissions and factors like GDP or population.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Heatmap: Highlights correlations between variables such as energy consumption, population, and emissions.</a:t>
            </a:r>
          </a:p>
          <a:p>
            <a:pPr marL="342900" indent="-342900">
              <a:buFont typeface="Arial" panose="020B0604020202020204" pitchFamily="34" charset="0"/>
              <a:buChar char="•"/>
            </a:pPr>
            <a:endParaRPr lang="en-US" dirty="0"/>
          </a:p>
          <a:p>
            <a:r>
              <a:rPr lang="en-US" dirty="0"/>
              <a:t>	These visualizations help in identifying emission trends, comparing countries, and supporting the AI model analysis and prediction results. </a:t>
            </a:r>
          </a:p>
        </p:txBody>
      </p:sp>
      <p:sp>
        <p:nvSpPr>
          <p:cNvPr id="8" name="TextBox 7">
            <a:extLst>
              <a:ext uri="{FF2B5EF4-FFF2-40B4-BE49-F238E27FC236}">
                <a16:creationId xmlns:a16="http://schemas.microsoft.com/office/drawing/2014/main" id="{53DE1687-7F69-BD4F-0FC1-3AFCEDB18C67}"/>
              </a:ext>
            </a:extLst>
          </p:cNvPr>
          <p:cNvSpPr txBox="1"/>
          <p:nvPr/>
        </p:nvSpPr>
        <p:spPr>
          <a:xfrm>
            <a:off x="64008" y="722685"/>
            <a:ext cx="5904091" cy="400110"/>
          </a:xfrm>
          <a:prstGeom prst="rect">
            <a:avLst/>
          </a:prstGeom>
          <a:noFill/>
        </p:spPr>
        <p:txBody>
          <a:bodyPr wrap="square">
            <a:spAutoFit/>
          </a:bodyPr>
          <a:lstStyle/>
          <a:p>
            <a:r>
              <a:rPr lang="en-IN" sz="2000" b="1" dirty="0">
                <a:solidFill>
                  <a:srgbClr val="213163"/>
                </a:solidFill>
              </a:rPr>
              <a:t>Result</a:t>
            </a:r>
          </a:p>
        </p:txBody>
      </p:sp>
    </p:spTree>
    <p:extLst>
      <p:ext uri="{BB962C8B-B14F-4D97-AF65-F5344CB8AC3E}">
        <p14:creationId xmlns:p14="http://schemas.microsoft.com/office/powerpoint/2010/main" val="340817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47AA64-86DA-EEB4-2B58-F5C9F4F6923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0F5C63-CA57-4198-DE09-06B11F8C8AB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0962F5BB-40DE-28E5-9387-A9BF86D34D29}"/>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3B346371-4D57-77A1-882F-B891D0C22F19}"/>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C4C86F6F-7155-7EC3-58B1-50842D7FA97A}"/>
              </a:ext>
            </a:extLst>
          </p:cNvPr>
          <p:cNvSpPr txBox="1">
            <a:spLocks/>
          </p:cNvSpPr>
          <p:nvPr/>
        </p:nvSpPr>
        <p:spPr>
          <a:xfrm>
            <a:off x="176783" y="1089765"/>
            <a:ext cx="11815408" cy="540253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q"/>
            </a:pPr>
            <a:r>
              <a:rPr lang="en-US" dirty="0"/>
              <a:t>Insights:</a:t>
            </a:r>
          </a:p>
          <a:p>
            <a:pPr marL="285750" indent="-285750">
              <a:buFont typeface="Arial" panose="020B0604020202020204" pitchFamily="34" charset="0"/>
              <a:buChar char="•"/>
            </a:pPr>
            <a:r>
              <a:rPr lang="en-US" sz="1600" dirty="0"/>
              <a:t>CO₂ emissions increase with higher GDP, population, and energy consumption.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Countries using more fossil fuels produce higher emissions.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Increasing the use of renewable energy can reduce CO₂ emissions.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model predicts that emissions may continue to rise without sustainable policies. </a:t>
            </a:r>
          </a:p>
          <a:p>
            <a:endParaRPr lang="en-US" sz="1400" dirty="0"/>
          </a:p>
          <a:p>
            <a:pPr marL="342900" indent="-342900">
              <a:buFont typeface="Wingdings" panose="05000000000000000000" pitchFamily="2" charset="2"/>
              <a:buChar char="q"/>
            </a:pPr>
            <a:r>
              <a:rPr lang="en-US" dirty="0"/>
              <a:t>Challenges Faced:</a:t>
            </a:r>
            <a:br>
              <a:rPr lang="en-US" dirty="0"/>
            </a:br>
            <a:r>
              <a:rPr lang="en-US" sz="1600" dirty="0"/>
              <a:t>During the model building and data analysis process, several challenges were encountered. One major difficulty was missing or incomplete data in the CO₂ emissions dataset obtained from sources like World Bank and Our World in Data. This required additional preprocessing and data cleaning.</a:t>
            </a:r>
          </a:p>
          <a:p>
            <a:endParaRPr lang="en-US" sz="1600" dirty="0"/>
          </a:p>
          <a:p>
            <a:r>
              <a:rPr lang="en-US" sz="1600" dirty="0"/>
              <a:t>Another challenge was handling large datasets and selecting the most relevant features such as GDP, population, and energy consumption for accurate predictions. Additionally, choosing the appropriate machine learning model and tuning its parameters to achieve better performance was also challenging.</a:t>
            </a:r>
          </a:p>
          <a:p>
            <a:endParaRPr lang="en-US" sz="1600" dirty="0"/>
          </a:p>
          <a:p>
            <a:r>
              <a:rPr lang="en-US" sz="1600" dirty="0"/>
              <a:t>These issues required careful data preprocessing, feature selection, and model optimization to improve the prediction results.</a:t>
            </a:r>
          </a:p>
        </p:txBody>
      </p:sp>
      <p:sp>
        <p:nvSpPr>
          <p:cNvPr id="8" name="TextBox 7">
            <a:extLst>
              <a:ext uri="{FF2B5EF4-FFF2-40B4-BE49-F238E27FC236}">
                <a16:creationId xmlns:a16="http://schemas.microsoft.com/office/drawing/2014/main" id="{C2132A3D-F4D5-4E25-BE28-B9E521F37201}"/>
              </a:ext>
            </a:extLst>
          </p:cNvPr>
          <p:cNvSpPr txBox="1"/>
          <p:nvPr/>
        </p:nvSpPr>
        <p:spPr>
          <a:xfrm>
            <a:off x="191909" y="689655"/>
            <a:ext cx="5904091" cy="400110"/>
          </a:xfrm>
          <a:prstGeom prst="rect">
            <a:avLst/>
          </a:prstGeom>
          <a:noFill/>
        </p:spPr>
        <p:txBody>
          <a:bodyPr wrap="square">
            <a:spAutoFit/>
          </a:bodyPr>
          <a:lstStyle/>
          <a:p>
            <a:r>
              <a:rPr lang="en-IN" sz="2000" b="1" dirty="0">
                <a:solidFill>
                  <a:srgbClr val="213163"/>
                </a:solidFill>
              </a:rPr>
              <a:t>Discussion</a:t>
            </a:r>
            <a:endParaRPr lang="en-IN" sz="2000" dirty="0">
              <a:solidFill>
                <a:srgbClr val="213163"/>
              </a:solidFill>
            </a:endParaRPr>
          </a:p>
        </p:txBody>
      </p:sp>
    </p:spTree>
    <p:extLst>
      <p:ext uri="{BB962C8B-B14F-4D97-AF65-F5344CB8AC3E}">
        <p14:creationId xmlns:p14="http://schemas.microsoft.com/office/powerpoint/2010/main" val="3588832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FFAAF42-470E-97FC-B197-6E5DF9EDB14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23E1BD-5875-ABF1-63F3-45C022CCC361}"/>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F04FD7C0-9A64-0039-4825-99241438FE8D}"/>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C0E33A13-0620-DBF5-D01F-30111ED8D4DB}"/>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5DD3A5A0-5DE1-57D5-1967-A49F57C9AB4B}"/>
              </a:ext>
            </a:extLst>
          </p:cNvPr>
          <p:cNvSpPr txBox="1">
            <a:spLocks/>
          </p:cNvSpPr>
          <p:nvPr/>
        </p:nvSpPr>
        <p:spPr>
          <a:xfrm>
            <a:off x="199808" y="1081146"/>
            <a:ext cx="11659959" cy="4974201"/>
          </a:xfrm>
          <a:prstGeom prst="rect">
            <a:avLst/>
          </a:prstGeom>
        </p:spPr>
        <p:txBody>
          <a:bodyPr>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q"/>
            </a:pPr>
            <a:r>
              <a:rPr lang="en-US" dirty="0"/>
              <a:t>Sustainability Impact:</a:t>
            </a:r>
          </a:p>
          <a:p>
            <a:r>
              <a:rPr lang="en-US" sz="1750" dirty="0"/>
              <a:t>The proposed AI-based solution helps analyze and predict global CO₂ emission trends, which can support better environmental decision-making. By identifying high emission patterns, governments and organizations can take steps to reduce carbon emissions and promote cleaner energy sources.</a:t>
            </a:r>
          </a:p>
          <a:p>
            <a:endParaRPr lang="en-US" sz="1750" dirty="0"/>
          </a:p>
          <a:p>
            <a:r>
              <a:rPr lang="en-US" sz="1750" dirty="0"/>
              <a:t>The model can also help in planning sustainable policies, improving energy efficiency, and increasing the use of renewable energy. This contributes to global sustainability goals and supports climate action efforts promoted by organizations like the United Nations through the United Nations Sustainable Development Goals. </a:t>
            </a:r>
          </a:p>
          <a:p>
            <a:endParaRPr lang="en-US" dirty="0"/>
          </a:p>
          <a:p>
            <a:pPr marL="342900" indent="-342900">
              <a:buFont typeface="Wingdings" panose="05000000000000000000" pitchFamily="2" charset="2"/>
              <a:buChar char="q"/>
            </a:pPr>
            <a:r>
              <a:rPr lang="en-US" dirty="0"/>
              <a:t>Practical Implementation:</a:t>
            </a:r>
            <a:br>
              <a:rPr lang="en-US" dirty="0"/>
            </a:br>
            <a:r>
              <a:rPr lang="en-US" dirty="0"/>
              <a:t> </a:t>
            </a:r>
            <a:r>
              <a:rPr lang="en-US" sz="1750" dirty="0"/>
              <a:t>AI-based CO₂ emission prediction model can be applied in real-world settings to support environmental planning and policy making. Governments and environmental organizations can use the model to analyze emission trends and forecast future CO₂ levels.</a:t>
            </a:r>
          </a:p>
          <a:p>
            <a:endParaRPr lang="en-US" sz="1750" dirty="0"/>
          </a:p>
          <a:p>
            <a:r>
              <a:rPr lang="en-US" sz="1750" dirty="0"/>
              <a:t>It can help policymakers design effective climate strategies, promote renewable energy usage, and reduce dependence on fossil fuels. Industries can also use the predictions to monitor their carbon footprint and improve energy efficiency.</a:t>
            </a:r>
          </a:p>
          <a:p>
            <a:endParaRPr lang="en-US" sz="1750" dirty="0"/>
          </a:p>
          <a:p>
            <a:r>
              <a:rPr lang="en-US" sz="1750" dirty="0"/>
              <a:t>Such solutions support global climate initiatives led by organizations like the United Nations and its United Nations Sustainable Development Goals, encouraging sustainable development and environmental protection. </a:t>
            </a:r>
          </a:p>
        </p:txBody>
      </p:sp>
      <p:sp>
        <p:nvSpPr>
          <p:cNvPr id="8" name="TextBox 7">
            <a:extLst>
              <a:ext uri="{FF2B5EF4-FFF2-40B4-BE49-F238E27FC236}">
                <a16:creationId xmlns:a16="http://schemas.microsoft.com/office/drawing/2014/main" id="{03015779-0D87-0B8F-666B-1C962E184FD1}"/>
              </a:ext>
            </a:extLst>
          </p:cNvPr>
          <p:cNvSpPr txBox="1"/>
          <p:nvPr/>
        </p:nvSpPr>
        <p:spPr>
          <a:xfrm>
            <a:off x="191909" y="681037"/>
            <a:ext cx="5904091" cy="400110"/>
          </a:xfrm>
          <a:prstGeom prst="rect">
            <a:avLst/>
          </a:prstGeom>
          <a:noFill/>
        </p:spPr>
        <p:txBody>
          <a:bodyPr wrap="square">
            <a:spAutoFit/>
          </a:bodyPr>
          <a:lstStyle/>
          <a:p>
            <a:r>
              <a:rPr lang="en-IN" sz="2000" b="1" dirty="0">
                <a:solidFill>
                  <a:srgbClr val="213163"/>
                </a:solidFill>
              </a:rPr>
              <a:t>Solution Impact</a:t>
            </a:r>
            <a:endParaRPr lang="en-IN" sz="2000" dirty="0">
              <a:solidFill>
                <a:srgbClr val="213163"/>
              </a:solidFill>
            </a:endParaRPr>
          </a:p>
        </p:txBody>
      </p:sp>
    </p:spTree>
    <p:extLst>
      <p:ext uri="{BB962C8B-B14F-4D97-AF65-F5344CB8AC3E}">
        <p14:creationId xmlns:p14="http://schemas.microsoft.com/office/powerpoint/2010/main" val="2848511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0314" y="692090"/>
            <a:ext cx="5904091" cy="400110"/>
          </a:xfrm>
          <a:prstGeom prst="rect">
            <a:avLst/>
          </a:prstGeom>
          <a:noFill/>
        </p:spPr>
        <p:txBody>
          <a:bodyPr wrap="square">
            <a:spAutoFit/>
          </a:bodyPr>
          <a:lstStyle/>
          <a:p>
            <a:r>
              <a:rPr lang="en-IN" sz="2000" b="1" dirty="0">
                <a:solidFill>
                  <a:srgbClr val="213163"/>
                </a:solidFill>
              </a:rPr>
              <a:t>Conclusion</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172168"/>
            <a:ext cx="11265408" cy="4955203"/>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dirty="0">
                <a:latin typeface="+mn-lt"/>
              </a:rPr>
              <a:t>Summary:</a:t>
            </a:r>
          </a:p>
          <a:p>
            <a:pPr marL="228600" indent="-228600">
              <a:spcAft>
                <a:spcPts val="800"/>
              </a:spcAft>
              <a:buFont typeface="Arial" panose="020B0604020202020204" pitchFamily="34" charset="0"/>
              <a:buChar char="•"/>
            </a:pPr>
            <a:r>
              <a:rPr lang="en-US" sz="1600" dirty="0">
                <a:latin typeface="+mn-lt"/>
              </a:rPr>
              <a:t>This project presents an AI-based approach to analyze and predict global CO₂ emissions using historical environmental and economic data. By applying machine learning techniques, the model identifies patterns between CO₂ emissions, population, GDP, and energy consumption.</a:t>
            </a:r>
          </a:p>
          <a:p>
            <a:pPr marL="228600" indent="-228600">
              <a:spcAft>
                <a:spcPts val="800"/>
              </a:spcAft>
              <a:buFont typeface="Arial" panose="020B0604020202020204" pitchFamily="34" charset="0"/>
              <a:buChar char="•"/>
            </a:pPr>
            <a:r>
              <a:rPr lang="en-US" sz="1600" dirty="0">
                <a:latin typeface="+mn-lt"/>
              </a:rPr>
              <a:t>The results show that the model can effectively predict future emission trends, helping researchers and policymakers understand potential environmental impacts. The solution supports better decision-making for reducing carbon emissions and promoting sustainable energy use.</a:t>
            </a:r>
          </a:p>
          <a:p>
            <a:pPr marL="228600" indent="-228600">
              <a:spcAft>
                <a:spcPts val="800"/>
              </a:spcAft>
              <a:buFont typeface="Arial" panose="020B0604020202020204" pitchFamily="34" charset="0"/>
              <a:buChar char="•"/>
            </a:pPr>
            <a:r>
              <a:rPr lang="en-US" sz="1600" dirty="0">
                <a:latin typeface="+mn-lt"/>
              </a:rPr>
              <a:t>Overall, this project contributes to sustainable development and climate change mitigation efforts, aligning with global environmental initiatives promoted by organizations such as the United Nations. </a:t>
            </a:r>
          </a:p>
          <a:p>
            <a:pPr marL="228600" indent="-228600">
              <a:spcAft>
                <a:spcPts val="800"/>
              </a:spcAft>
              <a:buFont typeface="Arial" panose="020B0604020202020204" pitchFamily="34" charset="0"/>
              <a:buChar char="•"/>
            </a:pPr>
            <a:r>
              <a:rPr lang="en-US" sz="1800" dirty="0">
                <a:latin typeface="+mn-lt"/>
              </a:rPr>
              <a:t>Future Work:</a:t>
            </a:r>
            <a:br>
              <a:rPr lang="en-US" sz="1800" dirty="0">
                <a:latin typeface="+mn-lt"/>
              </a:rPr>
            </a:br>
            <a:r>
              <a:rPr lang="en-US" sz="1600" dirty="0">
                <a:latin typeface="+mn-lt"/>
              </a:rPr>
              <a:t>In the future, the project can be improved by using larger and more recent datasets from sources like World Bank and Our World in Data to increase prediction accuracy.</a:t>
            </a:r>
          </a:p>
          <a:p>
            <a:pPr marL="228600" indent="-228600">
              <a:spcAft>
                <a:spcPts val="800"/>
              </a:spcAft>
              <a:buFont typeface="Arial" panose="020B0604020202020204" pitchFamily="34" charset="0"/>
              <a:buChar char="•"/>
            </a:pPr>
            <a:r>
              <a:rPr lang="en-US" sz="1600" dirty="0">
                <a:latin typeface="+mn-lt"/>
              </a:rPr>
              <a:t>More advanced AI techniques such as deep learning and time-series models can also be applied to improve forecasting performance. Additionally, the model can include more factors like industrial activity, transportation data, and renewable energy usage for better analysis.</a:t>
            </a:r>
          </a:p>
          <a:p>
            <a:pPr marL="228600" indent="-228600">
              <a:spcAft>
                <a:spcPts val="800"/>
              </a:spcAft>
              <a:buFont typeface="Arial" panose="020B0604020202020204" pitchFamily="34" charset="0"/>
              <a:buChar char="•"/>
            </a:pPr>
            <a:r>
              <a:rPr lang="en-US" sz="1600" dirty="0">
                <a:latin typeface="+mn-lt"/>
              </a:rPr>
              <a:t>Further research can focus on developing real-time monitoring systems and interactive dashboards to help policymakers and organizations make faster and more effective environmental decisions. </a:t>
            </a:r>
          </a:p>
        </p:txBody>
      </p:sp>
      <p:sp>
        <p:nvSpPr>
          <p:cNvPr id="8" name="TextBox 7">
            <a:extLst>
              <a:ext uri="{FF2B5EF4-FFF2-40B4-BE49-F238E27FC236}">
                <a16:creationId xmlns:a16="http://schemas.microsoft.com/office/drawing/2014/main" id="{FF6EE1DD-6A31-2A28-F8BE-6E59037422CF}"/>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9" name="TextBox 8">
            <a:extLst>
              <a:ext uri="{FF2B5EF4-FFF2-40B4-BE49-F238E27FC236}">
                <a16:creationId xmlns:a16="http://schemas.microsoft.com/office/drawing/2014/main" id="{18F06934-F528-B704-BB31-70471CEEB0BF}"/>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32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a:solidFill>
                  <a:srgbClr val="213163"/>
                </a:solidFill>
              </a:rPr>
              <a:t>References</a:t>
            </a:r>
            <a:endParaRPr lang="en-IN" sz="200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461898"/>
            <a:ext cx="5926671" cy="1025922"/>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dirty="0">
                <a:latin typeface="+mn-lt"/>
              </a:rPr>
              <a:t>Paste your reference link here: </a:t>
            </a:r>
          </a:p>
          <a:p>
            <a:pPr marL="228600" indent="-228600">
              <a:spcAft>
                <a:spcPts val="800"/>
              </a:spcAft>
              <a:buFont typeface="Arial" panose="020B0604020202020204" pitchFamily="34" charset="0"/>
              <a:buChar char="•"/>
            </a:pPr>
            <a:r>
              <a:rPr lang="en-US" sz="1800" dirty="0">
                <a:latin typeface="+mn-lt"/>
              </a:rPr>
              <a:t>https://www.kaggle.com/datasets/lobosi/c02-emission-by-countrys-grouth-and-population</a:t>
            </a:r>
          </a:p>
        </p:txBody>
      </p:sp>
    </p:spTree>
    <p:extLst>
      <p:ext uri="{BB962C8B-B14F-4D97-AF65-F5344CB8AC3E}">
        <p14:creationId xmlns:p14="http://schemas.microsoft.com/office/powerpoint/2010/main" val="1307925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a:solidFill>
                  <a:srgbClr val="213163"/>
                </a:solidFill>
              </a:rPr>
              <a:t>Thank You</a:t>
            </a:r>
            <a:endParaRPr lang="en-US" sz="5000"/>
          </a:p>
        </p:txBody>
      </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2.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18</TotalTime>
  <Words>1415</Words>
  <Application>Microsoft Office PowerPoint</Application>
  <PresentationFormat>Widescreen</PresentationFormat>
  <Paragraphs>116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Times New Roman</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Suyog Deore</cp:lastModifiedBy>
  <cp:revision>7</cp:revision>
  <dcterms:modified xsi:type="dcterms:W3CDTF">2026-03-14T06:20:52Z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